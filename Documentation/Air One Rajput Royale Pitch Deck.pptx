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aircraft itself. Air One Rajput Royale: a hybrid-electric autogyro built for safe, fast regional flight.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traditional rotary-wing aircraft are mechanically complex, carry stall and power-loss risk, and need specialised aviation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safety argument. Because the rotor is always autorotating, it resists stall and remains controllable with no power at all. Avoid saying it "cannot stall": rotor blades can still stall, and reviewers will pick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defining features: the balanced two-blade rotor, twin rear ducted thrusters, the tailless boat-tail and the tricycle gear. The fuselage is a carbon-fibre monocoque teardrop pod.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bird-inspired layout isn't only styling: the swept pylons place the thrusters in the fuselage wake, which enables the boundary-layer ingestion covered on the aerodynamics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propulsion is the pair of rear ducted thrusters. The cabin sides are completely clean, and there is no tail fin, tail boom or 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drag drives everything: every unit of drag saved lowers battery discharge and extends range. Flow separation is delayed until the aft-most fuselage. The takeoff rake of the tricycle stance sets the rotor at an ideal angle of attack for fast spin-up.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rotor is unpowered in cruise and autorotates; the two rear thrusters are the sole source of forward thrust. The lithium-ion battery gives instant torque for takeoff, and the hybrid generator uses liquid fuel's energy density to sustain long-range cruise.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Four-view orthographic blueprint, exploded assembly with parts list, and a 1:10 technical sheet. These are concept visualisations; say so if asked whether they are certified engineering drawings.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targets from the technical report. High-altitude tailwinds at the 20,000 ft ceiling can stretch range on ferry flights. Be ready for two questions: an unpowered-rotor autogyro normally needs a pre-rotated "jump" takeoff rather than true VTOL, and an unpressurised cabin needs oxygen above about 12,500 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Empty weight is about half of MTOW, so operators can trade passengers against fuel and battery for longer sorties. Double-check that height and wheel track really are both 3,150 mm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compact footprint lets it operate from private estates, rooftop pads and urban vertiports with minimal changes to the ground site. I left out the report's "fits a standard parking space" claim: a 3.15 m track is wider than a typical 2.5 m bay.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Urban vertiports, private estates, regional ferry flights, island hopping and high-altitude mountain work, all from one airframe.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Placeholders: fill in customer segments, market size with a cited source, and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Placeholders: add dates and the status of each stage, and name the certification path you are targeting.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Placeholders: founders, key engineers and advisors, each with one line on why they can build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Placeholders: round size, the milestone it funds, and the use-of-funds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image" Target="../media/image-13-5.jpeg"/><Relationship Id="rId6" Type="http://schemas.openxmlformats.org/officeDocument/2006/relationships/image" Target="../media/image-13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Rajput autogyro flying above snow-capped alpine peaks and a sea of clouds at sunrise">    </p:cNvPr>
          <p:cNvPicPr>
            <a:picLocks noChangeAspect="1"/>
          </p:cNvPicPr>
          <p:nvPr/>
        </p:nvPicPr>
        <p:blipFill>
          <a:blip r:embed="rId1"/>
          <a:srcRect l="388" r="388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5171B">
                  <a:alpha val="94000"/>
                </a:srgbClr>
              </a:gs>
              <a:gs pos="34000">
                <a:srgbClr val="15171B">
                  <a:alpha val="62000"/>
                </a:srgbClr>
              </a:gs>
              <a:gs pos="60000">
                <a:srgbClr val="15171B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800" y="39497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E08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AIR ONE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4315520"/>
            <a:ext cx="108833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spc="-100" kern="0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Rajput Royale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812800" y="5382320"/>
            <a:ext cx="719455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DDD7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hybrid-electric autogyro for safe, fast regional flight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DA69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Investor presentation · [Month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91567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Light rotorcraft carry three burdens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3430091"/>
            <a:ext cx="3380284" cy="2408734"/>
          </a:xfrm>
          <a:prstGeom prst="roundRect">
            <a:avLst>
              <a:gd name="adj" fmla="val 4086"/>
            </a:avLst>
          </a:prstGeom>
          <a:solidFill>
            <a:srgbClr val="FAF9F6"/>
          </a:solidFill>
          <a:ln w="6350">
            <a:solidFill>
              <a:srgbClr val="DCD7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3738066"/>
            <a:ext cx="284726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4159647"/>
            <a:ext cx="284726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Mechanical complexity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3950" y="4535488"/>
            <a:ext cx="2847264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main rotors, tail rotors and their gearboxes mean more parts, more inspections and more cost.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3430091"/>
            <a:ext cx="3380383" cy="2408734"/>
          </a:xfrm>
          <a:prstGeom prst="roundRect">
            <a:avLst>
              <a:gd name="adj" fmla="val 4086"/>
            </a:avLst>
          </a:prstGeom>
          <a:solidFill>
            <a:srgbClr val="FAF9F6"/>
          </a:solidFill>
          <a:ln w="6350">
            <a:solidFill>
              <a:srgbClr val="DCD7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3784" y="3738066"/>
            <a:ext cx="284736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13784" y="4159647"/>
            <a:ext cx="284736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Stall and power-loss risk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13784" y="4535488"/>
            <a:ext cx="284736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the engine drives the rotor, losing power demands an instant, practised recovery from the pilot.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41" y="3430091"/>
            <a:ext cx="3380284" cy="2408734"/>
          </a:xfrm>
          <a:prstGeom prst="roundRect">
            <a:avLst>
              <a:gd name="adj" fmla="val 4086"/>
            </a:avLst>
          </a:prstGeom>
          <a:solidFill>
            <a:srgbClr val="FAF9F6"/>
          </a:solidFill>
          <a:ln w="6350">
            <a:solidFill>
              <a:srgbClr val="DCD7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3716" y="3738066"/>
            <a:ext cx="2847264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03716" y="4159647"/>
            <a:ext cx="284726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Tied to infrastructure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03716" y="4535488"/>
            <a:ext cx="284726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Operations depend on airfields and dedicated helipads, far from where people actually want to go.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6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558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ANSWER: AN AUTOGYRO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42322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spc="-50" kern="0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rotor that keeps flying when the power stops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018260"/>
            <a:ext cx="8502650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5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Rajput Royale's main rotor is never driven in flight. Air flowing up through it keeps it spinning in autorotation, so the aircraft stays controllable and can glide to a landing even after total power loss.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AIRCRAFT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Meet the Rajput Royale</a:t>
            </a:r>
            <a:endParaRPr lang="en-US" sz="3200" dirty="0"/>
          </a:p>
        </p:txBody>
      </p:sp>
      <p:pic>
        <p:nvPicPr>
          <p:cNvPr id="4" name="Image 0" descr="Left side studio view of the Rajput: copper-orange teardrop fuselage, two-blade rotor, rear ducted thrusters and tricycle wheels">    </p:cNvPr>
          <p:cNvPicPr>
            <a:picLocks noChangeAspect="1"/>
          </p:cNvPicPr>
          <p:nvPr/>
        </p:nvPicPr>
        <p:blipFill>
          <a:blip r:embed="rId1"/>
          <a:srcRect l="0" r="0" t="-391" b="-391"/>
          <a:stretch/>
        </p:blipFill>
        <p:spPr>
          <a:xfrm>
            <a:off x="812800" y="1949351"/>
            <a:ext cx="6705600" cy="3771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23200" y="1885057"/>
            <a:ext cx="36626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Two-blade carbon rotor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823200" y="2210098"/>
            <a:ext cx="36626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Passive in cruise, with a Rotating Mass Balancer to damp vibration.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23200" y="2910979"/>
            <a:ext cx="36626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Twin ducted thrusters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823200" y="3236020"/>
            <a:ext cx="36626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only source of forward thrust, shrouded for safety and low noise.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23200" y="3936901"/>
            <a:ext cx="36626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Tailless boat-tail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23200" y="4261941"/>
            <a:ext cx="36626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vertical fin; vectored thrust keeps it pointed straight.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23200" y="4962823"/>
            <a:ext cx="36626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Tricycle landing gear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823200" y="5287863"/>
            <a:ext cx="36626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Steerable nose wheel and a wide-stance main gear.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08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INSPIRATION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Shaped by the swallow-tailed kite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76301"/>
            <a:ext cx="91567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3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kite's forked tail became the Rajput Royale's twin swept aft pylons, each carrying a ducted thruster at its tip.</a:t>
            </a:r>
            <a:endParaRPr lang="en-US" sz="1400" dirty="0"/>
          </a:p>
        </p:txBody>
      </p:sp>
      <p:pic>
        <p:nvPicPr>
          <p:cNvPr id="5" name="Image 0" descr="A swallow-tailed kite in flight with its deeply forked tail spread">    </p:cNvPr>
          <p:cNvPicPr>
            <a:picLocks noChangeAspect="1"/>
          </p:cNvPicPr>
          <p:nvPr/>
        </p:nvPicPr>
        <p:blipFill>
          <a:blip r:embed="rId1"/>
          <a:srcRect l="0" r="0" t="14778" b="14778"/>
          <a:stretch/>
        </p:blipFill>
        <p:spPr>
          <a:xfrm>
            <a:off x="812800" y="2427982"/>
            <a:ext cx="5181600" cy="2667000"/>
          </a:xfrm>
          <a:prstGeom prst="roundRect">
            <a:avLst>
              <a:gd name="adj" fmla="val 381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5196582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39C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Swallow-tailed kite · Photo: Andy Morffew, Flickr (CC)</a:t>
            </a:r>
            <a:endParaRPr lang="en-US" sz="1200" dirty="0"/>
          </a:p>
        </p:txBody>
      </p:sp>
      <p:pic>
        <p:nvPicPr>
          <p:cNvPr id="7" name="Image 1" descr="Top-down plan view of the Rajput showing the teardrop fuselage, two swept aft pylons with ducted thrusters and the two-blade ro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213" y="2427982"/>
            <a:ext cx="4778375" cy="2667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7600" y="5196582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39C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Rajput Royale · top plan view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88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8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 flanks, no side fans, no tail fin</a:t>
            </a:r>
            <a:endParaRPr lang="en-US" sz="3200" dirty="0"/>
          </a:p>
        </p:txBody>
      </p:sp>
      <p:pic>
        <p:nvPicPr>
          <p:cNvPr id="4" name="Image 0" descr="Front view of the Rajput showing the bubble canopy, nose wheel and both rear thrusters">    </p:cNvPr>
          <p:cNvPicPr>
            <a:picLocks noChangeAspect="1"/>
          </p:cNvPicPr>
          <p:nvPr/>
        </p:nvPicPr>
        <p:blipFill>
          <a:blip r:embed="rId1"/>
          <a:srcRect l="12814" r="12814" t="0" b="0"/>
          <a:stretch/>
        </p:blipFill>
        <p:spPr>
          <a:xfrm>
            <a:off x="812800" y="2951559"/>
            <a:ext cx="3384550" cy="2540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" y="5593159"/>
            <a:ext cx="34882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</a:t>
            </a:r>
            <a:endParaRPr lang="en-US" sz="1400" dirty="0"/>
          </a:p>
        </p:txBody>
      </p:sp>
      <p:pic>
        <p:nvPicPr>
          <p:cNvPr id="6" name="Image 1" descr="Rear view of the Rajput showing the boat-tail and the twin ducted thruster nacelles">    </p:cNvPr>
          <p:cNvPicPr>
            <a:picLocks noChangeAspect="1"/>
          </p:cNvPicPr>
          <p:nvPr/>
        </p:nvPicPr>
        <p:blipFill>
          <a:blip r:embed="rId2"/>
          <a:srcRect l="12814" r="12814" t="0" b="0"/>
          <a:stretch/>
        </p:blipFill>
        <p:spPr>
          <a:xfrm>
            <a:off x="4402634" y="2951559"/>
            <a:ext cx="3384550" cy="2540000"/>
          </a:xfrm>
          <a:prstGeom prst="roundRect">
            <a:avLst>
              <a:gd name="adj" fmla="val 4000"/>
            </a:avLst>
          </a:prstGeom>
        </p:spPr>
      </p:pic>
      <p:sp>
        <p:nvSpPr>
          <p:cNvPr id="7" name="Text 3"/>
          <p:cNvSpPr/>
          <p:nvPr/>
        </p:nvSpPr>
        <p:spPr>
          <a:xfrm>
            <a:off x="4402634" y="5593159"/>
            <a:ext cx="34883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Rear</a:t>
            </a:r>
            <a:endParaRPr lang="en-US" sz="1400" dirty="0"/>
          </a:p>
        </p:txBody>
      </p:sp>
      <p:pic>
        <p:nvPicPr>
          <p:cNvPr id="8" name="Image 2" descr="Right side view of the Rajput on its tricycle landing gear">    </p:cNvPr>
          <p:cNvPicPr>
            <a:picLocks noChangeAspect="1"/>
          </p:cNvPicPr>
          <p:nvPr/>
        </p:nvPicPr>
        <p:blipFill>
          <a:blip r:embed="rId3"/>
          <a:srcRect l="12814" r="12814" t="0" b="0"/>
          <a:stretch/>
        </p:blipFill>
        <p:spPr>
          <a:xfrm>
            <a:off x="7992566" y="2951559"/>
            <a:ext cx="3384550" cy="2540000"/>
          </a:xfrm>
          <a:prstGeom prst="roundRect">
            <a:avLst>
              <a:gd name="adj" fmla="val 4000"/>
            </a:avLst>
          </a:prstGeom>
        </p:spPr>
      </p:pic>
      <p:sp>
        <p:nvSpPr>
          <p:cNvPr id="9" name="Text 4"/>
          <p:cNvSpPr/>
          <p:nvPr/>
        </p:nvSpPr>
        <p:spPr>
          <a:xfrm>
            <a:off x="7992566" y="5593159"/>
            <a:ext cx="34882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Right side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5FD4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AERODYNAMICS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6EE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to slip through the air</a:t>
            </a:r>
            <a:endParaRPr lang="en-US" sz="3200" dirty="0"/>
          </a:p>
        </p:txBody>
      </p:sp>
      <p:pic>
        <p:nvPicPr>
          <p:cNvPr id="4" name="Image 0" descr="CFD airflow simulation blueprint: streamlines flowing smoothly over the Rajput's teardrop pod into the rear ducted thruster, with a tight low-turbulence wake">    </p:cNvPr>
          <p:cNvPicPr>
            <a:picLocks noChangeAspect="1"/>
          </p:cNvPicPr>
          <p:nvPr/>
        </p:nvPicPr>
        <p:blipFill>
          <a:blip r:embed="rId1"/>
          <a:srcRect l="0" r="0" t="-391" b="-391"/>
          <a:stretch/>
        </p:blipFill>
        <p:spPr>
          <a:xfrm>
            <a:off x="812800" y="1863626"/>
            <a:ext cx="7010400" cy="3943350"/>
          </a:xfrm>
          <a:prstGeom prst="roundRect">
            <a:avLst>
              <a:gd name="adj" fmla="val 1932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0" y="2088158"/>
            <a:ext cx="3348736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5FD4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0.178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128000" y="2585938"/>
            <a:ext cx="334873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Drag coefficient of the monocoque teardrop pod (CFD)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0" y="3337620"/>
            <a:ext cx="3348736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5FD4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BLI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128000" y="3835400"/>
            <a:ext cx="334873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Thrusters ingest the slow wake air, cutting pressure drag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0" y="4587081"/>
            <a:ext cx="3348736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5FD4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fin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128000" y="5084862"/>
            <a:ext cx="334873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Tailless boat-tail removes fin drag and crosswind sensitivity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PROPULSION AND POWER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Electric thrust, hybrid range</a:t>
            </a:r>
            <a:endParaRPr lang="en-US" sz="3200" dirty="0"/>
          </a:p>
        </p:txBody>
      </p:sp>
      <p:pic>
        <p:nvPicPr>
          <p:cNvPr id="4" name="Image 0" descr="Full-colour exploded assembly of the Rajput: canopy, seats, battery pack, landing gear, rotor mast and the rear ducted thruster compon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063208"/>
            <a:ext cx="6350000" cy="3544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67600" y="1885057"/>
            <a:ext cx="402894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Motor 500 Series BLDC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67600" y="2210098"/>
            <a:ext cx="402894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high-torque brushless motors drive all forward thrust.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67600" y="2910979"/>
            <a:ext cx="402894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Composite ducts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67600" y="3236020"/>
            <a:ext cx="402894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Shrouded impellers: no tip losses, less noise, protected from debris.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67600" y="3936901"/>
            <a:ext cx="402894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Battery plus generator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67600" y="4261941"/>
            <a:ext cx="402894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Battery bursts for takeoff; a hybrid unit holds charge in cruise.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67600" y="4962823"/>
            <a:ext cx="402894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Redundant by design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467600" y="5287863"/>
            <a:ext cx="402894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one motor fails, fly-by-wire trims the thrust for a safe return.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5FD4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ENGINEERING PACKAGE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6EE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Drawn, exploded and specified</a:t>
            </a:r>
            <a:endParaRPr lang="en-US" sz="3200" dirty="0"/>
          </a:p>
        </p:txBody>
      </p:sp>
      <p:pic>
        <p:nvPicPr>
          <p:cNvPr id="4" name="Image 0" descr="Dark navy four-view orthographic blueprint of the Rajput with dimension lines and title block">    </p:cNvPr>
          <p:cNvPicPr>
            <a:picLocks noChangeAspect="1"/>
          </p:cNvPicPr>
          <p:nvPr/>
        </p:nvPicPr>
        <p:blipFill>
          <a:blip r:embed="rId1"/>
          <a:srcRect l="0" r="0" t="-432" b="-432"/>
          <a:stretch/>
        </p:blipFill>
        <p:spPr>
          <a:xfrm>
            <a:off x="812800" y="1828701"/>
            <a:ext cx="6858000" cy="3860800"/>
          </a:xfrm>
          <a:prstGeom prst="roundRect">
            <a:avLst>
              <a:gd name="adj" fmla="val 1974"/>
            </a:avLst>
          </a:prstGeom>
        </p:spPr>
      </p:pic>
      <p:pic>
        <p:nvPicPr>
          <p:cNvPr id="5" name="Image 1" descr="Dark exploded assembly blueprint of the Rajput with numbered callouts and parts 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146" y="1828701"/>
            <a:ext cx="3322108" cy="1854200"/>
          </a:xfrm>
          <a:prstGeom prst="rect">
            <a:avLst/>
          </a:prstGeom>
        </p:spPr>
      </p:pic>
      <p:pic>
        <p:nvPicPr>
          <p:cNvPr id="6" name="Image 2" descr="Vintage parchment four-view technical sheet of the Rajput at 1:10 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146" y="3835301"/>
            <a:ext cx="3322108" cy="1854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Rajput banking through a red-rock desert canyon in late afternoon sun">    </p:cNvPr>
          <p:cNvPicPr>
            <a:picLocks noChangeAspect="1"/>
          </p:cNvPicPr>
          <p:nvPr/>
        </p:nvPicPr>
        <p:blipFill>
          <a:blip r:embed="rId1"/>
          <a:srcRect l="29328" r="29328" t="0" b="0"/>
          <a:stretch/>
        </p:blipFill>
        <p:spPr>
          <a:xfrm>
            <a:off x="7112000" y="0"/>
            <a:ext cx="5080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08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TARGETS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27720"/>
            <a:ext cx="56509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Helicopter reach, lower running cost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2800" y="2383631"/>
            <a:ext cx="2667000" cy="0"/>
          </a:xfrm>
          <a:prstGeom prst="line">
            <a:avLst/>
          </a:prstGeom>
          <a:noFill/>
          <a:ln w="12700">
            <a:solidFill>
              <a:srgbClr val="C969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2542381"/>
            <a:ext cx="274701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300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12800" y="3202781"/>
            <a:ext cx="27470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3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km/h cruise speed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9800" y="2383631"/>
            <a:ext cx="2667000" cy="0"/>
          </a:xfrm>
          <a:prstGeom prst="line">
            <a:avLst/>
          </a:prstGeom>
          <a:noFill/>
          <a:ln w="12700">
            <a:solidFill>
              <a:srgbClr val="C969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9800" y="2542381"/>
            <a:ext cx="274701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600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3479800" y="3202781"/>
            <a:ext cx="27470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3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km range per sortie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2800" y="3457972"/>
            <a:ext cx="2667000" cy="0"/>
          </a:xfrm>
          <a:prstGeom prst="line">
            <a:avLst/>
          </a:prstGeom>
          <a:noFill/>
          <a:ln w="12700">
            <a:solidFill>
              <a:srgbClr val="C969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2800" y="3616722"/>
            <a:ext cx="274701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20,000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812800" y="4277122"/>
            <a:ext cx="27470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3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ft service ceiling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79800" y="3457972"/>
            <a:ext cx="2667000" cy="0"/>
          </a:xfrm>
          <a:prstGeom prst="line">
            <a:avLst/>
          </a:prstGeom>
          <a:noFill/>
          <a:ln w="12700">
            <a:solidFill>
              <a:srgbClr val="C969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9800" y="3616722"/>
            <a:ext cx="274701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VTOL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3479800" y="4277122"/>
            <a:ext cx="27470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3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and recovery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88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1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8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SPECIFICATIONS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Light, compact, half its weight free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92127"/>
          <a:ext cx="4572000" cy="3473648"/>
        </p:xfrm>
        <a:graphic>
          <a:graphicData uri="http://schemas.openxmlformats.org/drawingml/2006/table">
            <a:tbl>
              <a:tblPr/>
              <a:tblGrid>
                <a:gridCol w="2514600"/>
                <a:gridCol w="205740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Parameter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Rotor span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8,500 mm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Fuselage length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5,850 mm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Height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3,150 mm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Wheel track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3,150 mm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Wheelbase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2,600–2,700 mm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Max takeoff weight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500 kg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Empty weight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230–270 kg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Payload and fuel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5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 to 270 kg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1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C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White four-view engineering specification sheet of the Rajput at 1:10 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0400" y="2261682"/>
            <a:ext cx="5638800" cy="31472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Rajput parked on its wheels on a rooftop helipad above Monaco harbour at sunset">    </p:cNvPr>
          <p:cNvPicPr>
            <a:picLocks noChangeAspect="1"/>
          </p:cNvPicPr>
          <p:nvPr/>
        </p:nvPicPr>
        <p:blipFill>
          <a:blip r:embed="rId1"/>
          <a:srcRect l="388" r="388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5171B">
                  <a:alpha val="95000"/>
                </a:srgbClr>
              </a:gs>
              <a:gs pos="30000">
                <a:srgbClr val="15171B">
                  <a:alpha val="70000"/>
                </a:srgbClr>
              </a:gs>
              <a:gs pos="58000">
                <a:srgbClr val="15171B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800" y="436135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08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4777879"/>
            <a:ext cx="85026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Lands on rooftops, estates and vertiports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15975" y="5431234"/>
            <a:ext cx="1323380" cy="407591"/>
          </a:xfrm>
          <a:prstGeom prst="roundRect">
            <a:avLst>
              <a:gd name="adj" fmla="val 50000"/>
            </a:avLst>
          </a:prstGeom>
          <a:solidFill>
            <a:srgbClr val="F2F1EE">
              <a:alpha val="14000"/>
            </a:srgbClr>
          </a:solidFill>
          <a:ln w="6350">
            <a:solidFill>
              <a:srgbClr val="F2F1EE">
                <a:alpha val="3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6950" y="5510609"/>
            <a:ext cx="101223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5.85 m long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47305" y="5431234"/>
            <a:ext cx="1926233" cy="407591"/>
          </a:xfrm>
          <a:prstGeom prst="roundRect">
            <a:avLst>
              <a:gd name="adj" fmla="val 50000"/>
            </a:avLst>
          </a:prstGeom>
          <a:solidFill>
            <a:srgbClr val="F2F1EE">
              <a:alpha val="14000"/>
            </a:srgbClr>
          </a:solidFill>
          <a:ln w="6350">
            <a:solidFill>
              <a:srgbClr val="F2F1EE">
                <a:alpha val="3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28280" y="5510609"/>
            <a:ext cx="16150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3.15 m wheel track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81488" y="5431234"/>
            <a:ext cx="1701998" cy="407591"/>
          </a:xfrm>
          <a:prstGeom prst="roundRect">
            <a:avLst>
              <a:gd name="adj" fmla="val 50000"/>
            </a:avLst>
          </a:prstGeom>
          <a:solidFill>
            <a:srgbClr val="F2F1EE">
              <a:alpha val="14000"/>
            </a:srgbClr>
          </a:solidFill>
          <a:ln w="6350">
            <a:solidFill>
              <a:srgbClr val="F2F1EE">
                <a:alpha val="3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62463" y="5510609"/>
            <a:ext cx="13908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8.5 m rotor span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39C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39C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200" kern="0" dirty="0">
                <a:solidFill>
                  <a:srgbClr val="E08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MISSIONS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121866"/>
            <a:ext cx="10883392" cy="4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21"/>
              </a:lnSpc>
              <a:buNone/>
            </a:pPr>
            <a:r>
              <a:rPr lang="en-US" sz="311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aircraft, many missions</a:t>
            </a:r>
            <a:endParaRPr lang="en-US" sz="3110" dirty="0"/>
          </a:p>
        </p:txBody>
      </p:sp>
      <p:pic>
        <p:nvPicPr>
          <p:cNvPr id="4" name="Image 0" descr="The Rajput flying over a futuristic city skyline at twilight">    </p:cNvPr>
          <p:cNvPicPr>
            <a:picLocks noChangeAspect="1"/>
          </p:cNvPicPr>
          <p:nvPr/>
        </p:nvPicPr>
        <p:blipFill>
          <a:blip r:embed="rId1"/>
          <a:srcRect l="0" r="0" t="7574" b="7574"/>
          <a:stretch/>
        </p:blipFill>
        <p:spPr>
          <a:xfrm>
            <a:off x="812800" y="1810445"/>
            <a:ext cx="3422650" cy="1620937"/>
          </a:xfrm>
          <a:prstGeom prst="roundRect">
            <a:avLst>
              <a:gd name="adj" fmla="val 4701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" y="3507581"/>
            <a:ext cx="3523081" cy="26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Urban vertiport hops</a:t>
            </a:r>
            <a:endParaRPr lang="en-US" sz="1374" dirty="0"/>
          </a:p>
        </p:txBody>
      </p:sp>
      <p:pic>
        <p:nvPicPr>
          <p:cNvPr id="6" name="Image 1" descr="The Rajput flying low over superyachts in Monaco harbour">    </p:cNvPr>
          <p:cNvPicPr>
            <a:picLocks noChangeAspect="1"/>
          </p:cNvPicPr>
          <p:nvPr/>
        </p:nvPicPr>
        <p:blipFill>
          <a:blip r:embed="rId2"/>
          <a:srcRect l="0" r="0" t="7574" b="7574"/>
          <a:stretch/>
        </p:blipFill>
        <p:spPr>
          <a:xfrm>
            <a:off x="4385667" y="1810445"/>
            <a:ext cx="3422650" cy="1620937"/>
          </a:xfrm>
          <a:prstGeom prst="roundRect">
            <a:avLst>
              <a:gd name="adj" fmla="val 4701"/>
            </a:avLst>
          </a:prstGeom>
        </p:spPr>
      </p:pic>
      <p:sp>
        <p:nvSpPr>
          <p:cNvPr id="7" name="Text 3"/>
          <p:cNvSpPr/>
          <p:nvPr/>
        </p:nvSpPr>
        <p:spPr>
          <a:xfrm>
            <a:off x="4385667" y="3507581"/>
            <a:ext cx="3523183" cy="26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and luxury travel</a:t>
            </a:r>
            <a:endParaRPr lang="en-US" sz="1374" dirty="0"/>
          </a:p>
        </p:txBody>
      </p:sp>
      <p:pic>
        <p:nvPicPr>
          <p:cNvPr id="8" name="Image 2" descr="The Rajput cruising along rugged coastal cliffs at sunset">    </p:cNvPr>
          <p:cNvPicPr>
            <a:picLocks noChangeAspect="1"/>
          </p:cNvPicPr>
          <p:nvPr/>
        </p:nvPicPr>
        <p:blipFill>
          <a:blip r:embed="rId3"/>
          <a:srcRect l="0" r="0" t="7574" b="7574"/>
          <a:stretch/>
        </p:blipFill>
        <p:spPr>
          <a:xfrm>
            <a:off x="7958634" y="1810445"/>
            <a:ext cx="3422650" cy="1620937"/>
          </a:xfrm>
          <a:prstGeom prst="roundRect">
            <a:avLst>
              <a:gd name="adj" fmla="val 4701"/>
            </a:avLst>
          </a:prstGeom>
        </p:spPr>
      </p:pic>
      <p:sp>
        <p:nvSpPr>
          <p:cNvPr id="9" name="Text 4"/>
          <p:cNvSpPr/>
          <p:nvPr/>
        </p:nvSpPr>
        <p:spPr>
          <a:xfrm>
            <a:off x="7958634" y="3507581"/>
            <a:ext cx="3523183" cy="26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Coastal and regional ferry</a:t>
            </a:r>
            <a:endParaRPr lang="en-US" sz="1374" dirty="0"/>
          </a:p>
        </p:txBody>
      </p:sp>
      <p:pic>
        <p:nvPicPr>
          <p:cNvPr id="10" name="Image 3" descr="The Rajput gliding over turquoise Maldives lagoons">    </p:cNvPr>
          <p:cNvPicPr>
            <a:picLocks noChangeAspect="1"/>
          </p:cNvPicPr>
          <p:nvPr/>
        </p:nvPicPr>
        <p:blipFill>
          <a:blip r:embed="rId4"/>
          <a:srcRect l="0" r="0" t="7574" b="7574"/>
          <a:stretch/>
        </p:blipFill>
        <p:spPr>
          <a:xfrm>
            <a:off x="812800" y="3902373"/>
            <a:ext cx="3422650" cy="1620937"/>
          </a:xfrm>
          <a:prstGeom prst="roundRect">
            <a:avLst>
              <a:gd name="adj" fmla="val 4701"/>
            </a:avLst>
          </a:prstGeom>
        </p:spPr>
      </p:pic>
      <p:sp>
        <p:nvSpPr>
          <p:cNvPr id="11" name="Text 5"/>
          <p:cNvSpPr/>
          <p:nvPr/>
        </p:nvSpPr>
        <p:spPr>
          <a:xfrm>
            <a:off x="812800" y="5599509"/>
            <a:ext cx="3523081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Island hopping</a:t>
            </a:r>
            <a:endParaRPr lang="en-US" sz="1374" dirty="0"/>
          </a:p>
        </p:txBody>
      </p:sp>
      <p:pic>
        <p:nvPicPr>
          <p:cNvPr id="12" name="Image 4" descr="The Rajput above alpine peaks at sunrise">    </p:cNvPr>
          <p:cNvPicPr>
            <a:picLocks noChangeAspect="1"/>
          </p:cNvPicPr>
          <p:nvPr/>
        </p:nvPicPr>
        <p:blipFill>
          <a:blip r:embed="rId5"/>
          <a:srcRect l="0" r="0" t="7574" b="7574"/>
          <a:stretch/>
        </p:blipFill>
        <p:spPr>
          <a:xfrm>
            <a:off x="4385667" y="3902373"/>
            <a:ext cx="3422650" cy="1620937"/>
          </a:xfrm>
          <a:prstGeom prst="roundRect">
            <a:avLst>
              <a:gd name="adj" fmla="val 4701"/>
            </a:avLst>
          </a:prstGeom>
        </p:spPr>
      </p:pic>
      <p:sp>
        <p:nvSpPr>
          <p:cNvPr id="13" name="Text 6"/>
          <p:cNvSpPr/>
          <p:nvPr/>
        </p:nvSpPr>
        <p:spPr>
          <a:xfrm>
            <a:off x="4385667" y="5599509"/>
            <a:ext cx="3523183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High-altitude mountain</a:t>
            </a:r>
            <a:endParaRPr lang="en-US" sz="1374" dirty="0"/>
          </a:p>
        </p:txBody>
      </p:sp>
      <p:pic>
        <p:nvPicPr>
          <p:cNvPr id="14" name="Image 5" descr="The Rajput flying through a misty Norwegian fjord with waterfalls">    </p:cNvPr>
          <p:cNvPicPr>
            <a:picLocks noChangeAspect="1"/>
          </p:cNvPicPr>
          <p:nvPr/>
        </p:nvPicPr>
        <p:blipFill>
          <a:blip r:embed="rId6"/>
          <a:srcRect l="0" r="0" t="7574" b="7574"/>
          <a:stretch/>
        </p:blipFill>
        <p:spPr>
          <a:xfrm>
            <a:off x="7958634" y="3902373"/>
            <a:ext cx="3422650" cy="1620937"/>
          </a:xfrm>
          <a:prstGeom prst="roundRect">
            <a:avLst>
              <a:gd name="adj" fmla="val 4701"/>
            </a:avLst>
          </a:prstGeom>
        </p:spPr>
      </p:pic>
      <p:sp>
        <p:nvSpPr>
          <p:cNvPr id="15" name="Text 7"/>
          <p:cNvSpPr/>
          <p:nvPr/>
        </p:nvSpPr>
        <p:spPr>
          <a:xfrm>
            <a:off x="7958634" y="5599509"/>
            <a:ext cx="3523183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Remote and scenic tours</a:t>
            </a:r>
            <a:endParaRPr lang="en-US" sz="1374" dirty="0"/>
          </a:p>
        </p:txBody>
      </p:sp>
      <p:sp>
        <p:nvSpPr>
          <p:cNvPr id="16" name="Text 8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88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8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AND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buys it, and how we earn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3851672"/>
            <a:ext cx="3380284" cy="1987153"/>
          </a:xfrm>
          <a:prstGeom prst="roundRect">
            <a:avLst>
              <a:gd name="adj" fmla="val 4953"/>
            </a:avLst>
          </a:prstGeom>
          <a:solidFill>
            <a:srgbClr val="FAF9F6"/>
          </a:solidFill>
          <a:ln w="6350">
            <a:solidFill>
              <a:srgbClr val="DCD7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4159647"/>
            <a:ext cx="284726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4535488"/>
            <a:ext cx="2847264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[Private owners, charter and tourism operators, island and mountain transport, public services]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09" y="3851672"/>
            <a:ext cx="3380383" cy="1987153"/>
          </a:xfrm>
          <a:prstGeom prst="roundRect">
            <a:avLst>
              <a:gd name="adj" fmla="val 4953"/>
            </a:avLst>
          </a:prstGeom>
          <a:solidFill>
            <a:srgbClr val="FAF9F6"/>
          </a:solidFill>
          <a:ln w="6350">
            <a:solidFill>
              <a:srgbClr val="DCD7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3784" y="4159647"/>
            <a:ext cx="284736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size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13784" y="4535488"/>
            <a:ext cx="2847366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[$__ B]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13784" y="5084068"/>
            <a:ext cx="284736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[TAM · SAM · SOM, with source]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741" y="3851672"/>
            <a:ext cx="3380284" cy="1987153"/>
          </a:xfrm>
          <a:prstGeom prst="roundRect">
            <a:avLst>
              <a:gd name="adj" fmla="val 4953"/>
            </a:avLst>
          </a:prstGeom>
          <a:solidFill>
            <a:srgbClr val="FAF9F6"/>
          </a:solidFill>
          <a:ln w="6350">
            <a:solidFill>
              <a:srgbClr val="DCD7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3716" y="4159647"/>
            <a:ext cx="284726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03716" y="4535488"/>
            <a:ext cx="284726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[Unit price $__ · service and maintenance plans · pilot training · fleet leasing]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08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concept to first delivery</a:t>
            </a:r>
            <a:endParaRPr lang="en-US" sz="3200" dirty="0"/>
          </a:p>
        </p:txBody>
      </p:sp>
      <p:pic>
        <p:nvPicPr>
          <p:cNvPr id="4" name="Image 0" descr="The Rajput displayed inside a minimalist aerospace research hangar with LED light strips">    </p:cNvPr>
          <p:cNvPicPr>
            <a:picLocks noChangeAspect="1"/>
          </p:cNvPicPr>
          <p:nvPr/>
        </p:nvPicPr>
        <p:blipFill>
          <a:blip r:embed="rId1"/>
          <a:srcRect l="0" r="0" t="33849" b="33849"/>
          <a:stretch/>
        </p:blipFill>
        <p:spPr>
          <a:xfrm>
            <a:off x="812800" y="1828701"/>
            <a:ext cx="10566400" cy="1905000"/>
          </a:xfrm>
          <a:prstGeom prst="roundRect">
            <a:avLst>
              <a:gd name="adj" fmla="val 5333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2800" y="3994051"/>
            <a:ext cx="2489200" cy="0"/>
          </a:xfrm>
          <a:prstGeom prst="line">
            <a:avLst/>
          </a:prstGeom>
          <a:noFill/>
          <a:ln w="12700">
            <a:solidFill>
              <a:srgbClr val="C969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152801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08A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[Q_ 20__]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4416921"/>
            <a:ext cx="2563876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Concept and CFD design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505200" y="3994051"/>
            <a:ext cx="2489200" cy="0"/>
          </a:xfrm>
          <a:prstGeom prst="line">
            <a:avLst/>
          </a:prstGeom>
          <a:noFill/>
          <a:ln w="12700">
            <a:solidFill>
              <a:srgbClr val="C969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05200" y="4152801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08A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[Q_ 20__]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05200" y="4416921"/>
            <a:ext cx="256387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Prototype build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97600" y="3994051"/>
            <a:ext cx="2489200" cy="0"/>
          </a:xfrm>
          <a:prstGeom prst="line">
            <a:avLst/>
          </a:prstGeom>
          <a:noFill/>
          <a:ln w="12700">
            <a:solidFill>
              <a:srgbClr val="C969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7600" y="4152801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08A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[Q_ 20__]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97600" y="4416921"/>
            <a:ext cx="256387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Flight testing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890000" y="3994051"/>
            <a:ext cx="2489200" cy="0"/>
          </a:xfrm>
          <a:prstGeom prst="line">
            <a:avLst/>
          </a:prstGeom>
          <a:noFill/>
          <a:ln w="12700">
            <a:solidFill>
              <a:srgbClr val="C969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90000" y="4152801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08A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[Q_ 20__]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90000" y="4416921"/>
            <a:ext cx="2563876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Certification and deliveries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88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88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E47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people building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831604"/>
            <a:ext cx="3380284" cy="1504752"/>
          </a:xfrm>
          <a:prstGeom prst="roundRect">
            <a:avLst>
              <a:gd name="adj" fmla="val 6541"/>
            </a:avLst>
          </a:prstGeom>
          <a:solidFill>
            <a:srgbClr val="FAF9F6"/>
          </a:solidFill>
          <a:ln w="6350">
            <a:solidFill>
              <a:srgbClr val="DCD7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3139579"/>
            <a:ext cx="284726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[Name]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3490020"/>
            <a:ext cx="28472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E47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Founder and CEO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3950" y="3779540"/>
            <a:ext cx="284726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[One line of relevant background]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2831604"/>
            <a:ext cx="3380383" cy="1504752"/>
          </a:xfrm>
          <a:prstGeom prst="roundRect">
            <a:avLst>
              <a:gd name="adj" fmla="val 6541"/>
            </a:avLst>
          </a:prstGeom>
          <a:solidFill>
            <a:srgbClr val="FAF9F6"/>
          </a:solidFill>
          <a:ln w="6350">
            <a:solidFill>
              <a:srgbClr val="DCD7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3784" y="3139579"/>
            <a:ext cx="284736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[Name]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13784" y="3490020"/>
            <a:ext cx="28473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E47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3784" y="3779540"/>
            <a:ext cx="284736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[One line of relevant background]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41" y="2831604"/>
            <a:ext cx="3380284" cy="1504752"/>
          </a:xfrm>
          <a:prstGeom prst="roundRect">
            <a:avLst>
              <a:gd name="adj" fmla="val 6541"/>
            </a:avLst>
          </a:prstGeom>
          <a:solidFill>
            <a:srgbClr val="FAF9F6"/>
          </a:solidFill>
          <a:ln w="6350">
            <a:solidFill>
              <a:srgbClr val="DCD7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3716" y="3139579"/>
            <a:ext cx="284726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7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[Name]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03716" y="3490020"/>
            <a:ext cx="28472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E47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[Role]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03716" y="3779540"/>
            <a:ext cx="284726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[One line of relevant background]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55931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Advisors: [Names and affiliations]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5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Rajput flying between neon-lit skyscrapers in Tokyo on a rainy night">    </p:cNvPr>
          <p:cNvPicPr>
            <a:picLocks noChangeAspect="1"/>
          </p:cNvPicPr>
          <p:nvPr/>
        </p:nvPicPr>
        <p:blipFill>
          <a:blip r:embed="rId1"/>
          <a:srcRect l="388" r="388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5171B">
                  <a:alpha val="95000"/>
                </a:srgbClr>
              </a:gs>
              <a:gs pos="36000">
                <a:srgbClr val="15171B">
                  <a:alpha val="72000"/>
                </a:srgbClr>
              </a:gs>
              <a:gs pos="66000">
                <a:srgbClr val="15171B">
                  <a:alpha val="10000"/>
                </a:srgbClr>
              </a:gs>
            </a:gsLst>
            <a:lin ang="162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800" y="346729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08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3883819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Raising [$__] to fly the first Rajput Royale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815975" y="5431234"/>
            <a:ext cx="1687314" cy="407591"/>
          </a:xfrm>
          <a:prstGeom prst="roundRect">
            <a:avLst>
              <a:gd name="adj" fmla="val 50000"/>
            </a:avLst>
          </a:prstGeom>
          <a:solidFill>
            <a:srgbClr val="F2F1EE">
              <a:alpha val="14000"/>
            </a:srgbClr>
          </a:solidFill>
          <a:ln w="6350">
            <a:solidFill>
              <a:srgbClr val="F2F1EE">
                <a:alpha val="3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6950" y="5510609"/>
            <a:ext cx="137616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[__%] Prototype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11239" y="5431234"/>
            <a:ext cx="1952030" cy="407591"/>
          </a:xfrm>
          <a:prstGeom prst="roundRect">
            <a:avLst>
              <a:gd name="adj" fmla="val 50000"/>
            </a:avLst>
          </a:prstGeom>
          <a:solidFill>
            <a:srgbClr val="F2F1EE">
              <a:alpha val="14000"/>
            </a:srgbClr>
          </a:solidFill>
          <a:ln w="6350">
            <a:solidFill>
              <a:srgbClr val="F2F1EE">
                <a:alpha val="3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92214" y="5510609"/>
            <a:ext cx="16408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[__%] Flight testing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71219" y="5431234"/>
            <a:ext cx="1888827" cy="407591"/>
          </a:xfrm>
          <a:prstGeom prst="roundRect">
            <a:avLst>
              <a:gd name="adj" fmla="val 50000"/>
            </a:avLst>
          </a:prstGeom>
          <a:solidFill>
            <a:srgbClr val="F2F1EE">
              <a:alpha val="14000"/>
            </a:srgbClr>
          </a:solidFill>
          <a:ln w="6350">
            <a:solidFill>
              <a:srgbClr val="F2F1EE">
                <a:alpha val="3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52194" y="5510609"/>
            <a:ext cx="15776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[__%] Certification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67996" y="5431234"/>
            <a:ext cx="1331218" cy="407591"/>
          </a:xfrm>
          <a:prstGeom prst="roundRect">
            <a:avLst>
              <a:gd name="adj" fmla="val 50000"/>
            </a:avLst>
          </a:prstGeom>
          <a:solidFill>
            <a:srgbClr val="F2F1EE">
              <a:alpha val="14000"/>
            </a:srgbClr>
          </a:solidFill>
          <a:ln w="6350">
            <a:solidFill>
              <a:srgbClr val="F2F1EE">
                <a:alpha val="3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48971" y="5510609"/>
            <a:ext cx="102006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[__%] Team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22116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39C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39C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Rajput soaring over the Amazon rainforest canopy and a winding river at sunset">    </p:cNvPr>
          <p:cNvPicPr>
            <a:picLocks noChangeAspect="1"/>
          </p:cNvPicPr>
          <p:nvPr/>
        </p:nvPicPr>
        <p:blipFill>
          <a:blip r:embed="rId1"/>
          <a:srcRect l="388" r="388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5171B">
                  <a:alpha val="94000"/>
                </a:srgbClr>
              </a:gs>
              <a:gs pos="34000">
                <a:srgbClr val="15171B">
                  <a:alpha val="60000"/>
                </a:srgbClr>
              </a:gs>
              <a:gs pos="60000">
                <a:srgbClr val="15171B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800" y="42926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E08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AIR ONE · RAJPUT ROYALE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4658420"/>
            <a:ext cx="108833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spc="-100" kern="0" dirty="0">
                <a:solidFill>
                  <a:srgbClr val="F2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812800" y="572522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DD7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[Name] · [email] · [website]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One Rajput Royale Pitch Deck</dc:title>
  <dc:subject>PptxGenJS Presentation</dc:subject>
  <dc:creator>PptxGenJS</dc:creator>
  <cp:lastModifiedBy>PptxGenJS</cp:lastModifiedBy>
  <cp:revision>1</cp:revision>
  <dcterms:created xsi:type="dcterms:W3CDTF">2026-09-24T12:09:29Z</dcterms:created>
  <dcterms:modified xsi:type="dcterms:W3CDTF">2026-09-24T12:09:29Z</dcterms:modified>
</cp:coreProperties>
</file>